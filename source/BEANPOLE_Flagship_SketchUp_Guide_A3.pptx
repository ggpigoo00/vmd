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2bff7e7909404a" /><Relationship Type="http://schemas.openxmlformats.org/officeDocument/2006/relationships/extended-properties" Target="/docProps/app.xml" Id="R3a5d62eef4814b43" /><Relationship Type="http://schemas.openxmlformats.org/officeDocument/2006/relationships/officeDocument" Target="/ppt/presentation.xml" Id="R1b6ad2287fe147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95beb0b38e4fda"/>
  </p:sldMasterIdLst>
  <p:notesMasterIdLst>
    <p:notesMasterId xmlns:r="http://schemas.openxmlformats.org/officeDocument/2006/relationships" r:id="R4676bdb30a184171"/>
  </p:notesMasterIdLst>
  <p:sldIdLst>
    <p:sldId xmlns:r="http://schemas.openxmlformats.org/officeDocument/2006/relationships" id="256" r:id="R2e546f825dcc4bb2"/>
    <p:sldId xmlns:r="http://schemas.openxmlformats.org/officeDocument/2006/relationships" id="257" r:id="Rea80c67048634ddb"/>
    <p:sldId xmlns:r="http://schemas.openxmlformats.org/officeDocument/2006/relationships" id="258" r:id="R7a612446c3464382"/>
    <p:sldId xmlns:r="http://schemas.openxmlformats.org/officeDocument/2006/relationships" id="259" r:id="Rd10a919d0c8a4f36"/>
    <p:sldId xmlns:r="http://schemas.openxmlformats.org/officeDocument/2006/relationships" id="260" r:id="Rd8512cf5fca148a8"/>
    <p:sldId xmlns:r="http://schemas.openxmlformats.org/officeDocument/2006/relationships" id="261" r:id="R07a5cd11e4794e46"/>
    <p:sldId xmlns:r="http://schemas.openxmlformats.org/officeDocument/2006/relationships" id="262" r:id="R84b6b1fbd4f842b1"/>
  </p:sldIdLst>
  <p:sldSz cx="16002000" cy="11315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9bd5a062954c2d" /><Relationship Type="http://schemas.openxmlformats.org/officeDocument/2006/relationships/slideMaster" Target="/ppt/slideMasters/slideMaster1.xml" Id="R4995beb0b38e4fda" /><Relationship Type="http://schemas.openxmlformats.org/officeDocument/2006/relationships/notesMaster" Target="/ppt/notesMasters/notesMaster1.xml" Id="R4676bdb30a184171" /><Relationship Type="http://schemas.openxmlformats.org/officeDocument/2006/relationships/presProps" Target="/ppt/presProps.xml" Id="R5afd1f03214944d1" /><Relationship Type="http://schemas.openxmlformats.org/officeDocument/2006/relationships/tableStyles" Target="/ppt/tableStyles.xml" Id="Rbcfafbcf8a45491c" /><Relationship Type="http://schemas.openxmlformats.org/officeDocument/2006/relationships/slide" Target="/ppt/slides/slide1.xml" Id="R2e546f825dcc4bb2" /><Relationship Type="http://schemas.openxmlformats.org/officeDocument/2006/relationships/slide" Target="/ppt/slides/slide2.xml" Id="Rea80c67048634ddb" /><Relationship Type="http://schemas.openxmlformats.org/officeDocument/2006/relationships/slide" Target="/ppt/slides/slide3.xml" Id="R7a612446c3464382" /><Relationship Type="http://schemas.openxmlformats.org/officeDocument/2006/relationships/slide" Target="/ppt/slides/slide4.xml" Id="Rd10a919d0c8a4f36" /><Relationship Type="http://schemas.openxmlformats.org/officeDocument/2006/relationships/slide" Target="/ppt/slides/slide5.xml" Id="Rd8512cf5fca148a8" /><Relationship Type="http://schemas.openxmlformats.org/officeDocument/2006/relationships/slide" Target="/ppt/slides/slide6.xml" Id="R07a5cd11e4794e46" /><Relationship Type="http://schemas.openxmlformats.org/officeDocument/2006/relationships/slide" Target="/ppt/slides/slide7.xml" Id="R84b6b1fbd4f8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ef98020fb84f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97b2ed77aa41ca" /><Relationship Type="http://schemas.openxmlformats.org/officeDocument/2006/relationships/notesMaster" Target="/ppt/notesMasters/notesMaster1.xml" Id="R0ed3190ee95345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08fdf3c6ec4162" /><Relationship Type="http://schemas.openxmlformats.org/officeDocument/2006/relationships/notesMaster" Target="/ppt/notesMasters/notesMaster1.xml" Id="R6df5fc2ab48b40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d770fcf1754938" /><Relationship Type="http://schemas.openxmlformats.org/officeDocument/2006/relationships/notesMaster" Target="/ppt/notesMasters/notesMaster1.xml" Id="Rcf044af6b24746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b168ff56c14c43" /><Relationship Type="http://schemas.openxmlformats.org/officeDocument/2006/relationships/notesMaster" Target="/ppt/notesMasters/notesMaster1.xml" Id="R11d57c2e1bc743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83f155787e4471" /><Relationship Type="http://schemas.openxmlformats.org/officeDocument/2006/relationships/notesMaster" Target="/ppt/notesMasters/notesMaster1.xml" Id="R48b05cb7525446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1716c64a5a4dea" /><Relationship Type="http://schemas.openxmlformats.org/officeDocument/2006/relationships/notesMaster" Target="/ppt/notesMasters/notesMaster1.xml" Id="Rd27152c00a27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2292d8d1cb4121" /><Relationship Type="http://schemas.openxmlformats.org/officeDocument/2006/relationships/notesMaster" Target="/ppt/notesMasters/notesMaster1.xml" Id="R1306045312f24b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42213a2a048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0ed9abc4884a10" /><Relationship Type="http://schemas.openxmlformats.org/officeDocument/2006/relationships/slideLayout" Target="/ppt/slideLayouts/slideLayout1.xml" Id="R0848e566fba6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48e566fba6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a0109562e4adb" /><Relationship Type="http://schemas.openxmlformats.org/officeDocument/2006/relationships/notesSlide" Target="/ppt/notesSlides/notesSlide1.xml" Id="Rf9be09824b6640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2b1d74b0a414c" /><Relationship Type="http://schemas.openxmlformats.org/officeDocument/2006/relationships/notesSlide" Target="/ppt/notesSlides/notesSlide2.xml" Id="R7f28f69dbb3846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e586c8a8740d4" /><Relationship Type="http://schemas.openxmlformats.org/officeDocument/2006/relationships/notesSlide" Target="/ppt/notesSlides/notesSlide3.xml" Id="Ra0127bafa91640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b8c77554f4426" /><Relationship Type="http://schemas.openxmlformats.org/officeDocument/2006/relationships/notesSlide" Target="/ppt/notesSlides/notesSlide4.xml" Id="R44d334eb8ad748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c3572673d45f8" /><Relationship Type="http://schemas.openxmlformats.org/officeDocument/2006/relationships/notesSlide" Target="/ppt/notesSlides/notesSlide5.xml" Id="R444c955e211f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72f8ef9d14fcf" /><Relationship Type="http://schemas.openxmlformats.org/officeDocument/2006/relationships/notesSlide" Target="/ppt/notesSlides/notesSlide6.xml" Id="R75d37583d94d46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9cef4673443c1" /><Relationship Type="http://schemas.openxmlformats.org/officeDocument/2006/relationships/notesSlide" Target="/ppt/notesSlides/notesSlide7.xml" Id="R53ea4bacc9024f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99BE28-E9D2-4542-B62F-04FBD389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00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91452-30FC-49BA-B01D-C5FBF0AB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85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기준 치수와 모델링 원점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DE2E6-AF43-4CC0-810E-5222B7E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8667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A3 가로 · 1:100 권장 출력 · 원점은 1F 좌측 전면 외벽 코너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68F0A-0C63-439A-BBCB-76C4870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238250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5CA1D-DF98-4410-8501-ADC2F644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000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BEANPOLE FLAGSHIP · MODELING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480FA-B08C-434A-A0F9-EA573A39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8858250" cy="695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26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F9FF1-DBF9-4008-9560-2D62649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3567113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B3CF1-C813-42F6-83AD-62349A45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113" y="3567113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11E58-EFE0-404B-953C-2AF62CD6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7043738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6EFEF-2621-4FDB-AB73-283FC8E5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113" y="7043738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84D1D-20AA-411A-AB11-A6181DC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1952625"/>
            <a:ext cx="0" cy="695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1C384-A93B-4584-A271-5D3BF18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695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0014B-E935-4E9E-B5C0-96ED17E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1952625"/>
            <a:ext cx="0" cy="695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AF236-77E7-4B22-889A-25ECCE34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1952625"/>
            <a:ext cx="0" cy="695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A6545-61A3-4493-90CA-88AC9F75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25" y="1952625"/>
            <a:ext cx="0" cy="695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2E3D9-6492-4EB5-B3F7-3405D66B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821781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ACED1-8E4B-4634-B937-76CC8C47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690938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33A38-A88A-4486-93F2-FF4C0E18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4560094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06E6D-066D-467B-AE69-56F9656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54292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C1E19-745C-4454-A704-088B2D8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6298406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86481-D795-4AB9-8D5B-F23C07A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7167563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4D6FF-7378-438B-BC4F-074ED4F2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8036719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1D5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31670-0B20-4529-9001-F0D6B50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1362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18,000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658F7-0D6B-4EDE-88AF-76A8730C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7430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476AD-0D2E-4DAF-94BB-4AC64EE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6764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F412E-FFFC-4FBD-B684-7802F2C3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16764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A9391-0FF0-4C3C-8FF4-58A72826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1476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전체 폭 18,000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0ADA3-7947-4BC4-A5CA-E6A11A31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952625"/>
            <a:ext cx="0" cy="695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81414-569E-4F4A-AA10-2FB5CA2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" y="195262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19CABC-5643-48DB-BF28-66903D24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" y="89058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5A16A0-CA6A-4467-9B5B-19D64E09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42875" y="50482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전체 깊이 24,000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613F6B-4A1C-4267-9517-249BCC15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0288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3,000 모듈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F5A9B8-E4D3-4BF8-92B0-6FFB69E6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202876-25DE-4FE4-9C22-47A567C0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1914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ORIGIN 0,0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5F1A96-8822-4A34-93FA-6BA59970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2124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5E9AA5-74E9-415C-9170-24B73888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315450" y="2381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26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900B24-4B1C-490A-AEE7-C3852E7D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809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공통 기준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A1948D-D43C-40A2-A809-05E8156B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23622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2A39C8-103A-4F8D-A857-D4026CE0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24193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외곽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0DA391-7592-419B-BC6B-F367FEC5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2419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18,000 W × 24,000 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7BF096-E7F0-4F8E-88D7-903A20A4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29718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E1492B-2D5F-471A-BC8D-ED2840A8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0289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층고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8E3573-AC40-465F-858A-934CD332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3028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1F 4,200 / 2F 4,000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BEB16E-30DF-407F-8810-75927CD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35814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510254-E6AC-40FA-B076-1F03F54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6385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슬래브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A986AB-13E7-4416-9DA8-C90C43A9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3638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250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AFECBC-979C-4E67-B344-9F50C9BF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41910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BCC98F-A0A3-494E-8FAF-7BC9C840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2481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외벽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3B3E33-AE05-424B-AF4B-5B4F0420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4248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200 / 내벽 100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DA2762-01EB-4ABE-80E8-41B673E6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48006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B36293-D700-415D-99BF-3E786582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48577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기둥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BDAD7B-B53B-451E-A3A8-5666EB6B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4857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500 × 500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633C0B-9BAB-4038-B945-A5E295DE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54102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D7F4E0-ED04-46FF-BD84-0E6685C5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54673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주통로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501371-3E38-46CC-9802-C2D5DAEC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5467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1,800 이상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AADEDF-528C-4D06-B80B-7FCD3105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60198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170439-A942-4E38-92BB-BBEDC6AF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0769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보조통로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B01DCC-9DAF-4515-B1C7-CA53A346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6076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1,200 이상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DB1AE2-5B08-4C05-B8A9-9758324C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66294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C6C92E-C589-40E9-B79F-BC44FB4C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6865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보이드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7DC77C-6C42-4C2D-AE37-EF58C13A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668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7,200 × 6,000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A66BFE-A535-4F7D-92CD-1886ABD5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72390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6B6097-75DC-4D13-A31E-E45B6F37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72961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계단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E22A37-7B98-4E30-9C73-0BC605E4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7296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2,400 W · 17단 × 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515F3A-FE3E-4BC7-A693-E8B9950D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7848600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18778C-18EF-47A8-B263-67025C19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79057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난간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69FB6E-2622-4108-BEFA-36928898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7905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1,100 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1ED538-3C5B-4611-8C8E-A3C6B6C9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8858250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모델링 순서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20F94F-41A0-407B-BF54-FF8F833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91249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외곽선과 기둥을 먼저 잡고 슬래브, 보이드, 계단을 만든 뒤 조닝과 집기를 배치한다.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7F4E16-824A-4198-9FB5-72458F08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0734675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EA95F52-EEB1-48B6-9554-D66ED4FC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848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단위 mm · 기준안 · 현장 실측 후 조정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EEE6F5-C1E5-499E-AE09-037293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108489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7734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326F9D-DBC5-41CD-955F-10BB2BB0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00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168B1-DFE0-41EF-8556-4BB19BDD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85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1F 평면 계획 · DISCOVER BEANPOLE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C9ACE-956F-451B-ACCD-81B151A7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8667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전면 18m · 깊이 24m · 입구에서 시즌 상품과 중앙 설치물을 먼저 인지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813C5-F0CF-4AC4-BC7B-810FB9F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238250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672CA-70BD-405D-80FB-430183F5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000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BEANPOLE FLAGSHIP · MODELING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84E16-D252-46FD-820E-48FE9147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771525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26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39585-9260-4C5B-BF75-7DE6D5C8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3614738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E84F8-D40B-4514-B1D8-7F538056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863" y="3614738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6E7A6-096C-4802-9CD0-65CEA46B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7472363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2D957-68EB-4AE6-A6DF-5B3CF41C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863" y="7472363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EBDA7-15BE-4478-8FEC-06918E58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2314575" cy="6750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A56B4-1E92-4432-AF43-B733BD68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1847850"/>
            <a:ext cx="2162175" cy="598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HERITAGE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F4082-10BF-41D4-8CB5-E46E292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1543050" cy="6750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7CDD2-7E17-4A34-A71F-9A202E76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1847850"/>
            <a:ext cx="1390650" cy="598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MAIN ENTRANCE</a:t>
            </a:r>
          </a:p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3,600 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FDDB1-12A7-4E7C-ACE9-F445838D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09750"/>
            <a:ext cx="2314575" cy="6750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4EFBB-4952-42D6-843C-5C75B6B8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1847850"/>
            <a:ext cx="2162175" cy="598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NOW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BA468-6E1C-4FDA-ABDB-4DF77EB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63478"/>
            <a:ext cx="2057400" cy="2089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8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5035D-5797-45D6-934F-139C6BB1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3101578"/>
            <a:ext cx="1905000" cy="2013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SEASONAL COLLECTION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1B252-2A56-4C83-84BD-DA765B70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03081"/>
            <a:ext cx="18002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C35E2-17A6-4790-82EF-B22B0EA1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5641181"/>
            <a:ext cx="16478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ACCESSORIES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24E0A-9FFD-4882-B832-D6EA715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867150"/>
            <a:ext cx="2057400" cy="1157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7DFA9-F3B0-46EF-BE1E-F41D3BEF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3905250"/>
            <a:ext cx="19050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MAIN DISPLAY</a:t>
            </a:r>
          </a:p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4,800 × 3,600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3934F-AAD1-423B-BE59-0C6D618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10200"/>
            <a:ext cx="3086100" cy="1928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55FC6-9A36-4168-8291-E7D3F91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5448300"/>
            <a:ext cx="2933700" cy="185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VOID ABOVE</a:t>
            </a:r>
          </a:p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7,200 × 6,000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6FD92-FE34-405B-B7FC-F76339AA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513" y="3095625"/>
            <a:ext cx="1671638" cy="2378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8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BDDD8-A723-4FAA-81D6-803BD38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5713" y="3133725"/>
            <a:ext cx="1519238" cy="2302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OUTER / KNIT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609D42-7044-49A5-9DF2-7CF4C88F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85284"/>
            <a:ext cx="102870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2F4028-6ED8-4A60-8BDF-E4158EA0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6123384"/>
            <a:ext cx="8763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STAIR UP</a:t>
            </a:r>
          </a:p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2,400 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B15896-0146-4F8C-8AC2-6DD70D57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7853363"/>
            <a:ext cx="1928813" cy="1318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528DF9-CA1B-4C22-9997-26A472B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2213" y="7891463"/>
            <a:ext cx="1776413" cy="1241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SERVICE / STOCK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8C34BA-D1B1-4A34-9C10-BCC2E701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8174831"/>
            <a:ext cx="1543050" cy="578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F71730-B5EA-456E-8261-2763A25E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8212931"/>
            <a:ext cx="1390650" cy="502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CASH / WRAP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F88D79-2258-4705-A0D5-278496F8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58100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F54901-F9B9-43AE-9F61-E49ECA2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43825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627EBD-DADA-4F0F-8DBA-81C8CE9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29550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AB611A-3477-4DB9-9681-A6246E6C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15275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4D065B-0A31-4CE8-9085-013BCC91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16FDAA-A84B-4F05-ADC3-71DB9E9E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86725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8E7613-52A3-4748-AA06-F97D6470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C7F280-A94B-4DAA-9E46-2796C310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58175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41376D-34F9-4A27-9BE6-68CE3EF0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43900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955535-B829-46A1-B197-BA5E1D49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9625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F5AEF5-DE63-4546-9FC8-4AC9119D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15350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8527B9-1492-4D51-95D6-6B668405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01075" y="6085284"/>
            <a:ext cx="0" cy="2314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E1845E-FA12-486F-AF52-7AF7BBC2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2171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1A6A70-92C4-44A8-82BD-E734229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01730C-D121-4A9D-ABE1-2E43A818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875" y="2388394"/>
            <a:ext cx="0" cy="9644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F168AE-9C3A-46B6-B05E-7230723E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683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FF5C14-CAA9-485D-B17C-56FE918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875" y="3352800"/>
            <a:ext cx="0" cy="4822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F48E05-5065-4D37-9A92-613A0BD4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792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93D5BF-E220-4E01-91A6-0E5F7962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875" y="3835003"/>
            <a:ext cx="0" cy="15109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0B2456-4B4C-4E0F-81CF-900D6EE5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632847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48F171-CA5D-4AC4-A718-5452D9E1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875" y="5345906"/>
            <a:ext cx="1800225" cy="3536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CF1885-C03E-4FEE-9335-E771051F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9864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4479EB-8C18-4F0B-91CF-5AA1F589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58100" y="5699522"/>
            <a:ext cx="514350" cy="3536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D2E6F6-64A3-4430-B703-2A4C1F10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158115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B7ECE0-F3E3-495C-92C5-92D33D0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15144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897FC2-84FB-443E-9913-049D3CD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15144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446270-AFD1-447E-AED3-7715C02E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1314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18,000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3F19B2-9DF0-424A-A7F3-1BABB2C3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1809750"/>
            <a:ext cx="0" cy="771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A7E3B0-84CD-4632-BE2D-28A94CE0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18097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A8415E-A89A-4048-9DC0-48C34562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95250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739BF8-D5F5-41CA-9396-53A9502D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304925" y="5286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24,000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9BCAB4-8CBE-4C20-A86F-28776849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18097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조닝 기준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7A4800-79EB-477D-BBAC-7FB8AF66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2333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A · 첫 시선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CFB530-96FF-4D5D-90C6-76444390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260032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입구 중심축 끝에 메인 디스플레이를 둔다. 높이 1,350 이하로 시야를 열어 둔다.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0B51B1-3D4C-4ADC-A007-FB0FBD5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714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B · 순환 동선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161666-CA2A-47F6-9DE4-BD74BD5B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9814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메인 통로 1,800. 좌우 상품 존의 보조 통로는 1,200 이상 확보한다.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857613-F2E9-4BD2-958B-5DE6F3BE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0958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C · 층간 연결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E7D7FDA-A27B-46C0-AA5F-86AD6C8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6257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보이드 아래 중앙 설치물은 Ø3,200 이내. 2F 난간과 시각적으로 연결한다.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E1AE2D-7B78-4EFA-BD70-C7CE0621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477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D · 계단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38D912-3363-46B7-B7BB-FC6863F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7437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유효 폭 2,400. 디딤판 300, 챌판 약 165, 중간참 1,500 깊이를 기준으로 한다.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840552-4EB5-42A2-8895-242CC23C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8048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집기 기준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E8492B-D2AC-484F-841F-56F7BDA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831532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벽장 450 D × 2,400 H</a:t>
            </a:r>
          </a:p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행거 1,200 W × 600 D × 1,500 H</a:t>
            </a:r>
          </a:p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테이블 1,800 W × 900 D × 750 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0946B1-4855-42AB-8B35-3D5FEDB6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0734675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6DFDBDF-4869-48C3-9E0B-CE8759DE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848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단위 mm · 기준안 · 현장 실측 후 조정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7FFBFB-BD6C-48E4-AABD-08048E6A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108489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3422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AE3043-1D92-4C15-AA7B-C702F6C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00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7B9AD-3F75-4B91-95BE-33520B7A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85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2F 평면 계획 ·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81D5E-27BA-47B6-A6C2-C32440F1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8667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보이드 둘레에서 아카이브, 아이코닉 상품, 피팅과 라운지를 순서대로 경험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8801A-7CE3-4620-887D-83A6620C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238250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9F8C7-105D-4CFD-A390-3E9C17C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000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BEANPOLE FLAGSHIP · MODELING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5D1DA-5C3C-4E9C-8774-8094878E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771525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26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1DA3A-8F42-4B04-9A65-08A8D7CF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3614738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F653E-19E4-4E1A-9EE2-C3760CF9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863" y="3614738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13A19-44A1-475B-B947-D7A542D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7472363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FE428-578F-4971-B81F-761C89F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863" y="7472363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1F"/>
          </a:solidFill>
          <a:ln xmlns:a="http://schemas.openxmlformats.org/drawingml/2006/main" w="9525">
            <a:solidFill>
              <a:srgbClr val="1726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0BE93-F652-45EF-92D7-BE42B070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56247"/>
            <a:ext cx="15430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1D3BA-D785-4F2C-AB2B-5701F80A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394347"/>
            <a:ext cx="13906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ARCHIVE WALL</a:t>
            </a:r>
          </a:p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600 D × 9,600 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211D8-6699-4D9D-8F8F-5049F07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84834"/>
            <a:ext cx="3086100" cy="13501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8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5DE83-01EE-4CCE-BAFF-848699E8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2522934"/>
            <a:ext cx="2933700" cy="1273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ICONIC 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39DCB-FE13-4B3B-B222-0B35202E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513" y="2484834"/>
            <a:ext cx="1714500" cy="1928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25EF5-43FC-4DA3-8C0F-B56A4D9B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5713" y="2522934"/>
            <a:ext cx="1562100" cy="185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STYLING LOUNGE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7D221-FEEE-4121-90B4-B6009A38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4477941"/>
            <a:ext cx="3343275" cy="212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D7C83-3462-43C2-B063-BAF48069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74381"/>
            <a:ext cx="3086100" cy="1928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A6DD9-397D-4684-91FF-A1520A5F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4612481"/>
            <a:ext cx="2933700" cy="185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VOID</a:t>
            </a:r>
          </a:p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7,200 × 6,000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F5A39-BD40-4552-A6BE-2956894D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9119" y="4397573"/>
            <a:ext cx="29575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BALUSTRADE H 1,100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6D82D-D5DE-4D3E-A807-97A2B86B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6535341"/>
            <a:ext cx="1028700" cy="835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4E02B-E1B2-4067-AD08-269D89E3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2213" y="6573441"/>
            <a:ext cx="876300" cy="759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FITTING 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65699-539B-4EE1-B7EA-4A26F89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7499747"/>
            <a:ext cx="1028700" cy="8358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83D15-6256-45DA-8D6F-06BE2D11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2213" y="7537847"/>
            <a:ext cx="876300" cy="759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FITTING 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B7E64-6159-4063-BA63-6CC9DCAE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8464153"/>
            <a:ext cx="1800225" cy="7393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5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11ADA-A4D1-4A2B-B3C8-7A7B8000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2213" y="8502253"/>
            <a:ext cx="1647825" cy="663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BACK / 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5361E2-096C-4EA8-B936-193E9A29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85284"/>
            <a:ext cx="102870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06370-0FAB-4A46-84BA-F8F8A520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6123384"/>
            <a:ext cx="8763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STAIR DOWN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91436-B2D0-4E32-960F-B3A027C0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113984"/>
            <a:ext cx="2571750" cy="1607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43B20-075D-41E7-B1CA-11066616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7152084"/>
            <a:ext cx="2419350" cy="1531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LOUNGE / LIBRARY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FF47EB-B2FE-433E-BDE5-C5935D1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57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9BE45C-F732-4D36-9358-91F10C84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83262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F91BD-5F43-46C8-A86F-C977DA4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57875" y="3899297"/>
            <a:ext cx="1928813" cy="2250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4E9961-0A22-4A6F-AC3B-42DCE3D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364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030530-AB55-4736-A881-F99EA146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6688" y="3899297"/>
            <a:ext cx="300038" cy="17037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89511C-B8DB-4065-9CFD-93B8051D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88" y="68222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74CAD4-4285-441C-86D4-90E6313A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015163" y="5603081"/>
            <a:ext cx="1071563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B6777F-562A-4462-9518-35DE867F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8509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BA7355-0C3C-4DA1-B205-4A469BDC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57875" y="6888956"/>
            <a:ext cx="1157288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09D018-4C3C-4F76-9800-DE2BDD2B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5295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A558E8-A906-49EC-BFF7-FCEE1568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00475" y="7596188"/>
            <a:ext cx="2057400" cy="3214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2F3BE0-7A0C-4474-9BDE-009D0595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43996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2CC190-0876-41BA-B58A-A0B5C420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286125" y="5506641"/>
            <a:ext cx="514350" cy="20895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967ED9-7F9F-4FCF-8514-8E8362EE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041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F3F"/>
          </a:solidFill>
          <a:ln xmlns:a="http://schemas.openxmlformats.org/drawingml/2006/main" w="0">
            <a:solidFill>
              <a:srgbClr val="A85F3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06F8E7-55DF-4DD8-ACBE-2091A768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86125" y="3417094"/>
            <a:ext cx="171450" cy="20895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dash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CC4D89-49D9-4806-939B-755E6B9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158115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FD5225-170C-4D9D-A0A1-45A3800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15144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31BC2F-79FB-40BF-A7DE-E484DFF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15144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0D232E-F96B-44F7-9D50-CC6A4998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1314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18,000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A5E17-1D33-465E-91D0-807DCD07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1809750"/>
            <a:ext cx="0" cy="771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60048F-1557-4FF3-8002-1703752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18097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4DF865-4A34-45A8-ABFC-5FCA4C39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95250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FF1AB5-756E-4240-802E-D93E5F81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304925" y="5286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24,000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71F20B-F709-4B5C-A740-92EA22CA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18097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조닝 기준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7B94A3-5C77-44DD-BF6F-D2B7DF6E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2333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A · 아카이브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8582BC-EADA-42C3-9669-CABEAF8D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260032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벽면 깊이 600. 전시 모듈 1,200 간격. 그래픽 중심 높이 1,500으로 통일한다.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A52B22-45C0-49A7-97B1-A1EF5EA4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714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B · 보이드 둘레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F9309A-44BA-4764-905D-C0BD8ED4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39814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난간에서 집기까지 1,200 이상. 관람 정체 구간은 1,800으로 넓힌다.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AC138F-8C9B-4F83-9F04-7A91F20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0958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C · 피팅룸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5BB0D5-382A-4E08-A7ED-AFB9BDE4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6257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각 실 2,400 × 2,600. 문 유효 폭 900. 전면 대기 폭 1,500을 확보한다.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21EF8E-3074-4F4C-807F-96E5A988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477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D · 라운지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FA60A3-C283-4D0B-9AC8-726D9B32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7437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소파 2,400 × 900. 테이블 사이 900, 주동선과는 1,200 이상 띄운다.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856384-AD49-4E11-BC64-D59C8CA6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8048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천장 기준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73FA65-7D4F-4263-9A91-D14732CA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831532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일반 3,600 H</a:t>
            </a:r>
          </a:p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아카이브 레일 3,000 H</a:t>
            </a:r>
          </a:p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보이드 설치물 하단 2,700 이상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421E01-1C1B-439F-A3C4-B9EC24CB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0734675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5DA9ED-A4BD-433A-8E0F-22DFEBDB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848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단위 mm · 기준안 · 현장 실측 후 조정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0FBF51-A0A9-4E1D-BEC3-0B28A49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108489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9781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DBFDF9-11F9-4D50-A9C6-23123378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00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6D1BB-669C-41B7-BC80-747A4772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85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정면 입면 · 파사드와 메인 엔트런스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29D94-A8E8-455E-8251-C9A5377E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8667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18m 폭을 3m 그리드로 분할하고 중앙 3.6m 출입구를 강조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ADEDA-8C63-46EE-948D-F50FD979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238250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37B21-0EEC-41B1-BB35-2E790BAD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000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BEANPOLE FLAGSHIP · MODELING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06FB7-7376-4451-8055-40A1986E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4097000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26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70D56-DF1E-483A-A41A-AB071650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762625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0">
            <a:solidFill>
              <a:srgbClr val="1726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9B4DE-703C-4EE7-8698-B0BD6183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02000" y="2476500"/>
            <a:ext cx="0" cy="657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E9469-DC67-465C-8009-AE794602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51500" y="2476500"/>
            <a:ext cx="0" cy="657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59036-F9AD-4019-AE0A-2F86659D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2476500"/>
            <a:ext cx="0" cy="657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999A8-07F6-4834-9E2C-80F32BD9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50500" y="2476500"/>
            <a:ext cx="0" cy="657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FBE03-5FA5-470A-B342-EEEF83F8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00000" y="2476500"/>
            <a:ext cx="0" cy="657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A84EF-8AB3-42F5-A0C6-D9BACE8B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77000"/>
            <a:ext cx="37147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8FDB1-F459-49CF-8504-B93D89E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6515100"/>
            <a:ext cx="3562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HERITAGE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7182F-8E68-4F0B-AF19-DFB3C313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37147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14288">
            <a:solidFill>
              <a:srgbClr val="254D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CBEE9-1EE4-4720-A982-7313F2DC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7100" y="6515100"/>
            <a:ext cx="3562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NOW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BB96C-6944-4963-B85F-AE02F725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54D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32862-CBF9-406B-B2A5-770B4315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762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3D2E8-7873-4EAF-9172-6AABA28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38137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BEANPOLE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A9BA2-C896-4A30-87F7-EC8DF3A9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85F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281D4-FC91-44AB-AE67-93D5339B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77625" y="3143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5F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F2C69-C1CF-4FDF-A252-DAC8688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63250" y="38576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5F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EF838-D83B-42F8-8298-D68CF896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17170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4D2AEA-AEAF-4AFE-85A4-7D19988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1050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1FB0B-CC77-497E-A6C1-284BAA8A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049500" y="21050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7AD2C0-9D94-4F68-B47D-466AF9F5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1905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18,000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98B01B-8CCD-4867-83C0-C8CB80A5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476500"/>
            <a:ext cx="0" cy="657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CEEA1-3D33-4C4E-976C-53FB0591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4765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B85B6-1717-49B4-87D7-4C10F60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90487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FA9D6-97AF-4A17-9FE7-FA75190D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57175" y="538162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8,450 incl. slab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E8675C-65BB-4246-9A94-4960E3A9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91916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26DDD7-EE1E-453F-B6B3-2D76C2B1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91249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396AA-DE3A-4B8A-96C2-4C4613D8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29750" y="91249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A6AC-3207-4D94-B079-5484B31B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8924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ENTRANCE 3,600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652B8D-9AF1-4CE3-9F47-77665BB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942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입면 재료 가이드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D5F563-C495-4EFB-9FF5-C4563BD2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9429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짙은 녹색 금속 프레임 · 따뜻한 백색 석재 · 체크 패턴 펀칭 패널 · 투명 유리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6F6F9-39D3-485F-AEDE-F7B7FA85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0734675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CCF607-1CDA-4336-9232-88622E71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848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단위 mm · 기준안 · 현장 실측 후 조정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CCD870-7E0C-4879-A541-4EEDF871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108489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7204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C687B3-03A1-4073-A543-C0AA50D7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00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E5B1B-6975-43D8-9713-BD2AAEB4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85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정면 입면 · 윈도우와 메인 디스플레이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D0BC0-710D-4935-A2F9-D954A990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8667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제품 높이와 시선축을 맞춘 단순한 선형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FAFEB-2F8F-4C5D-84A0-58EB427F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238250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7949C-8ADB-459A-9048-0DFA82AA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000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BEANPOLE FLAGSHIP · MODELING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CB62A-7542-4926-809D-C6DA022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476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26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03AEF-8675-4F70-8EFE-3EC53FD2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885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HERITAGE WINDOW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3AC0D-6A8D-4636-8A08-27788A78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69056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26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DF762-2904-481F-8D17-1E9B9179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114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0"/>
          </a:solidFill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913A3-B356-4D40-B56C-87059208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171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BAE81-FA32-4540-B8D0-FB894758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619500"/>
            <a:ext cx="104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ARCHIVE</a:t>
            </a:r>
          </a:p>
          <a:p xmlns:a="http://schemas.openxmlformats.org/drawingml/2006/main">
            <a:pPr algn="ctr">
              <a:def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GRAPHIC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6DBA2-D638-4D2C-B627-2A76580B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7715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F847C-DCCF-4FD8-8D54-0D13769A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76485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94C46-D5BB-4BAC-B832-5221AE33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76485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557C6-64F1-499E-A9DF-1E68001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7448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5,400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47082-DB88-4C49-AE39-1D66A0C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381250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2CC22-D1E9-4FC6-8BCE-90232FB7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" y="23812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D73EE-43BF-4252-BC8A-8895486F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" y="74295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BF280-04A9-4F9F-A8EA-FD3E512E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42875" y="4524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3,600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32130-F497-4C47-A029-4AAEB23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81250"/>
            <a:ext cx="4476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26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92D4F-739B-4D9A-8704-A4356ED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625" y="1885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NOW WINDOW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8F0E3-675A-42B9-BA8C-BC1C7849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62625" y="69056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26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9753E-D463-4128-87F4-23AB084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57750"/>
            <a:ext cx="9048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4E5E3-9162-401B-97BA-37776ACA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57700"/>
            <a:ext cx="904875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679A5-7C39-4DA3-BABA-57B5177D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57650"/>
            <a:ext cx="904875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B46EC-1756-444F-9B54-C2F47C2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33337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85F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3CE90-3EE5-44EB-85D4-087DF201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62625" y="7715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81502-1932-4475-B65D-90485431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62625" y="76485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6E8A3-2D86-49F8-BF7F-A3603C12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39375" y="76485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CF12D-1253-4D76-8BC0-7CCF2A38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7448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5,400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C147DE-361E-439B-ADD2-65C7DE6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72125" y="2381250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488172-5ABA-431A-BB4D-EDCC8055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05450" y="23812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C8A8E6-1430-4BEF-BB99-7CF4D2DC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05450" y="74295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92CA99-0C31-4EBE-8087-D144C61A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143500" y="4524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3,600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BF2CE6-790E-4098-B26B-F58974F2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81250"/>
            <a:ext cx="4476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26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4742DE-31DA-42C2-8F4E-6B5C7DC4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1885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MAIN DISPLAY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327F6B-69DD-4CF1-A244-F09CAFC2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63250" y="69056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261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DFC1F1-10F8-4846-BE85-B23062DA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3340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A"/>
          </a:solidFill>
          <a:ln xmlns:a="http://schemas.openxmlformats.org/drawingml/2006/main" w="28575">
            <a:solidFill>
              <a:srgbClr val="254D3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FBC48E-8035-4D59-A91E-8A173FBF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9575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D6B9B1-7199-4270-BA63-4ACE3EB3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01625" y="29051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5F3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472EB2-DAF0-4D05-A125-A696726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63250" y="7715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3E1307-AC3F-42F9-9F6F-CA21CC1A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63250" y="76485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5EFA24-CE5F-46F4-B776-2BE425A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0" y="76485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0F5115-1F7A-4C0C-8513-273E1FF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4875" y="7448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4,800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306319-B13B-48C9-99DD-C5D38F64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0" y="2381250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DE55C6-856B-4718-AA32-51689320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06075" y="23812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0FE14C-5990-4468-8DBC-AE8C1BE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06075" y="74295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829CD9-A9EB-4540-BD4F-26062451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144125" y="45243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3,600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128757-B98A-48F7-AC05-824FCA8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8382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모델링 치수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BD0366-9997-4F48-87B8-B30D0EDA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8334375"/>
            <a:ext cx="1228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윈도우 베이스 450 H · 마네킹 간격 1,200 · 그래픽 패널 1,200 W × 2,400 H · 메인 테이블 4,800 W × 1,200 D × 750 H · 중앙 프레임 1,800 W × 2,400 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DB3C3D-2692-430A-B24D-E229DF58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93821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시선 높이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6AA7BE-B468-4AC7-AC9D-AAEE6FFD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964882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핵심 제품과 그래픽의 중심을 바닥에서 1,400~1,600 사이에 맞춘다.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C478CB-4D89-442F-9541-80854A5B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93821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조명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B82DCC-70D6-49DB-A585-F448C01B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964882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윈도우 3000K, 상품 3500K. 레일 스폿은 벽에서 900 이격을 시작값으로 둔다.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F3717A-3AD4-4592-85B7-D225817D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0734675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B342DD-00DB-4C23-953A-EF85223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848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단위 mm · 기준안 · 현장 실측 후 조정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19D047-9E67-40AA-AB2B-5579ECD1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108489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1037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14A8648-AA6E-4592-81A1-60A29E1B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00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83A9F-662F-4F57-8ECD-DDF7095F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85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종단면도 A-A · 보이드와 계단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6007D-FE52-463F-9579-70237414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8667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축선 X1-X4 · 1F/2F 레벨 · SketchUp 모델링용 기준 단면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FEE05-04AE-4F9B-834E-FD9D9ED0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238250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6581D-1B98-4883-B6EE-15828CB9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000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BEANPOLE FLAGSHIP · MODELING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337C1-82F4-4E88-A90A-04AA3FD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8953500"/>
            <a:ext cx="1271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6D347-0208-457B-A090-560FACF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5673090"/>
            <a:ext cx="1271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4BBAF-BE5E-4107-A317-9CE38DC3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2358390"/>
            <a:ext cx="1271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9C00B-F115-47E2-B8A9-9FF626DF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1644015"/>
            <a:ext cx="0" cy="7833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E2C17-FE37-4BF1-8585-C0A6D61A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29159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0067-8189-487D-817B-C3A36C7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132016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X1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83DDA-C9F5-420B-AED9-C099AC7F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07719" y="1644015"/>
            <a:ext cx="0" cy="7833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EF1D9-947E-4DEE-932B-8338385B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44" y="129159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29A50-BF0E-472C-A797-9511B559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4844" y="132016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X2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AC9B8-BE8C-44D3-B0B3-23742E58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6688" y="1644015"/>
            <a:ext cx="0" cy="7833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DC617-70EB-4F4C-9EA6-B3BA8511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13" y="129159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E97BC-8937-4C92-99B2-8176497A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3813" y="132016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X3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2244E-6A8A-4747-84A5-D407AFB2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5656" y="1644015"/>
            <a:ext cx="0" cy="7833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F152B-7D21-48D5-8D59-7492851F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781" y="129159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E3D44-BD24-4D8B-B6E9-53697754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2781" y="132016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X4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A86B5-5264-413B-AEBE-44D84B7A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144625" y="1644015"/>
            <a:ext cx="0" cy="7833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24CF2-411E-4504-AFD3-2DB97080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129159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4F704-92E3-4262-B457-6704C678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0" y="132016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X5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913C9-643F-4206-8BD5-0D14418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58390"/>
            <a:ext cx="171450" cy="6595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0BCE7-C5ED-4C77-9756-CC54AFE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358390"/>
            <a:ext cx="171450" cy="6595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85A6D1-E36B-4B46-A40F-FB9ECCA0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5520690"/>
            <a:ext cx="508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A2714-F526-424F-97F5-4A95BEC7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43513" y="4434840"/>
            <a:ext cx="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69AC3-B15A-4B92-912B-A7C15201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329863" y="4434840"/>
            <a:ext cx="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F53E8-82A6-4B49-B8A9-74703B02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43513" y="472059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E4012-AB8F-4D16-BCD6-7DBC6344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43513" y="472059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416A73-6EC5-4AAF-9B2D-46D5395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329863" y="472059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71336B-C7ED-4F5F-BCDE-AB4D572A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2613" y="472059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128C60-34F8-4C98-A9DC-694EF440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6475" y="89535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75F6E-6DC2-4119-8E79-CF0276C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600325" y="8743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D852F4-A908-4611-B427-3152274A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00325" y="87439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D57BAF-0DBD-459B-8E51-FA7B8AF4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24175" y="85344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983572-E25C-461E-BF8A-D4D2CE8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24175" y="85344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1BF2F5-F414-4380-83EC-0FC01BD5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48025" y="83248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52E847-BC80-4FD4-9956-E4190D2B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48025" y="83248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926D09-5D96-4F93-B8F1-956E569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71875" y="81153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1E5EDF-5D81-4FB0-9DDC-ADAE9B8F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1875" y="8115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1EC1E7-3275-4124-9605-AE13D2B2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95725" y="79057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9B1184-3913-4E5B-8F58-0278E79F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95725" y="7905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91A1CC-AD1C-4D8B-8215-188CF5BA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19575" y="76962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179DA8-3A8C-48B1-967B-FFD2B46A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19575" y="76962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58321E-FB83-4C4B-863B-E2EF6F2F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43425" y="74866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FEC129-36A9-470C-9425-26892DA3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3425" y="7486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EA9A97-DAE6-4A1B-BCC6-E36A252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67275" y="72771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773D70-6580-4648-9722-49046466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67275" y="72771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E32A99-A44B-477C-ACAD-F820AA0B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91125" y="70675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24F058-E1D7-4E3D-9815-005B4B9F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70675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EA2CAD-208C-4E5C-80EB-F130D843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14975" y="68580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D863FE-6065-4A96-9EAF-346AF02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14975" y="685800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3CDB52-D14C-4E6B-9859-619FADDA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14975" y="6858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94C21E-6B3A-4E32-A754-ABC0CAF1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38825" y="6738938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B0E9B8-BD24-4375-BADE-57EB31AE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8825" y="673893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36E6A0-52BF-4BBB-93CA-7E227382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62675" y="6619875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4BA2A4-992A-45C5-9FD0-C1EBF34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62675" y="6619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04A046-DA12-4C5D-B228-7FD6993A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86525" y="6500813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7ABB8E-D8C7-47BF-968B-3DF0AE4A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86525" y="650081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6ED1CD-C696-4EFE-B272-A5C3CAAD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10375" y="6381750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DC3D3B-F4AA-4129-BF33-54EEED2E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0375" y="6381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0F3546-B0A8-47FE-ACCC-F8687E24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134225" y="6262688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4008E0-B118-4799-B70D-9E6E6277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34225" y="626268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881052-43EB-4451-8F1E-FD923EBA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58075" y="6143625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E5FBA6-CE26-4C06-ACE8-74691946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58075" y="61436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BD6EAE-0E3E-428D-A46E-B014C8CA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781925" y="6024563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6BE0B7-09B2-4428-8275-CFCD2BE4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1925" y="602456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1E1085-D0F1-4DCC-A256-C81F3D48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05775" y="5905500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AD565D5-1C1F-4DAD-B160-25DA3CA7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05775" y="59055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E74C44-FE6F-410C-81DA-B3C737AF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29625" y="5786438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02EADF-6A63-4A33-ABD2-A18A3A6F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9625" y="578643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F5FBFA-D62F-4161-8E44-F89D22B7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53475" y="5667375"/>
            <a:ext cx="0" cy="119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081D815-F51B-49ED-A911-2B3B49AE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76475" y="5743575"/>
            <a:ext cx="647700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421952-B2FB-4706-B091-B133D16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169" y="7886700"/>
            <a:ext cx="296703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C3443A-9770-4997-AE3B-F9EB0CD9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456" y="8020050"/>
            <a:ext cx="26844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MAIN DISPLAY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ADBCF6A-75B0-4930-A538-223BEDC4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406" y="3672840"/>
            <a:ext cx="211931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2F29C8F-6ECC-4D36-BED5-E5150B40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4372" y="3958590"/>
            <a:ext cx="190738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ARCHIVE WALL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CA72D55-38D9-411C-983B-DE8E6192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768215"/>
            <a:ext cx="1907381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D02D39-3AB0-4868-B8D9-4E435B43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5013" y="4911090"/>
            <a:ext cx="162480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LOUNGE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28CE4B8-0F69-4C00-BD2B-907315C1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35851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F3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628893-94EA-4153-A8F4-46B0871C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6688" y="2358390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D2A8E3-EA5A-4C04-A781-66DB28C5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3688" y="513969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CHECK GRID + WHEEL</a:t>
            </a:r>
          </a:p>
          <a:p xmlns:a="http://schemas.openxmlformats.org/drawingml/2006/main">
            <a:pPr algn="ctr">
              <a:def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Ø 3,200 이내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910B08-032F-424B-A22B-AD2ABFCA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39875" y="235839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222EE4-560C-45FB-BAFA-3CDC9732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075" y="221551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2F 천장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C1F584E-8650-4283-99C4-AE3AEA7C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39875" y="567309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EC2448-AC1B-4106-9226-FED2C5F6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075" y="553021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2F F.L.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FEBB86-DEE5-4DCB-8FD6-DC5FAA98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39875" y="8953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B720EC0-8344-4192-98A7-70D36BF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075" y="8810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1F F.L.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2812041-24A2-4724-98A8-EE5F33CC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9677400"/>
            <a:ext cx="1271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7F74013-4460-4E92-BE55-F8A226C6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96107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A0921CD-BDC6-4D66-9EE1-56437E52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144625" y="96107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34D934-42DA-4FD4-BBF6-BCD08055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9938" y="9410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18,000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E20DFD-9B5E-477F-B05B-64971164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9353550"/>
            <a:ext cx="31789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7B75C1-124F-467D-97D4-BDB9EA53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928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20A248F-4632-440A-A5B4-44E7816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07719" y="928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A081118-2DE1-43FB-BDFB-3E03F391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1484" y="9086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4,500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DA2860-7DC9-427A-B86E-C16B3825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07719" y="9353550"/>
            <a:ext cx="31789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1EA043E-73F2-42EE-BA83-DC10D69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07719" y="928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551C135-81A2-4C50-93F3-6A1366DD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6688" y="928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9078CCE-B33B-4402-808D-1ECFFB2F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0453" y="9086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4,500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1725525-B0A9-4815-B65B-FC857874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6688" y="9353550"/>
            <a:ext cx="31789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C30377-2B1C-4808-83EE-6291642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6688" y="928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AE02678-2A38-4B38-A612-DAC84F9F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5656" y="928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2F87DA-55A8-4303-9E46-89E93FAD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9422" y="9086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4,500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74EFA8A-032C-4A1A-8156-7D691F75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5656" y="9353550"/>
            <a:ext cx="31789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1710DF2-2DC0-4102-A1EF-7AD17CEC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5656" y="928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9173AE5-6085-4C00-83DD-47A2D90E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144625" y="9286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C80A3D-7ED2-4FD6-BB3A-6E253B8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8391" y="9086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4,500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A09533-2E1D-420F-A393-09773CAB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5673090"/>
            <a:ext cx="0" cy="3280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5A6335F-E762-4AFF-BED9-9372885B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567309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BF313CA-EF87-4522-B0AD-3E8CFD25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" y="89535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ABAEC59-1BCF-4D9B-9A16-A07585B9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66750" y="693229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4,200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5CE49F7-C0EF-43A5-8A7A-B7E86A22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" y="235839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29595A-4AD3-4365-96C3-668EDD27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235839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7F7344-44C4-4D80-9086-1615537A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567309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8758216-6804-4254-9F01-DC242FA5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52425" y="363474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4,000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C1892C6-FCEC-4669-9C93-708D2F63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" y="2358390"/>
            <a:ext cx="0" cy="65951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7AB5D1F-564A-4D9E-B361-E640E447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235839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8A59E4F-79E4-4BF7-8394-D9C7FC5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89535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46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E783D40-7CBB-46DD-BDFE-79A3820E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8100" y="527494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8,450 incl. slab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BBF49C5-69B9-45E6-BCCD-FCBF1D92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54889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THK200 외벽 마감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93DF122-1627-4B2F-AFF3-75D568F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04950" y="2853690"/>
            <a:ext cx="114300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64E9651-935B-4FDF-AF08-083048BC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4013" y="424434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난간 H1,100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43C994-5A36-4437-A531-4EAB2A93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243513" y="4549140"/>
            <a:ext cx="26670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D5BCCCC-AD0C-47E9-806B-A3A0DD8A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7563" y="591121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보이드 7,200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E80C956-4BB5-4D4E-B4C0-B1AA1D8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43763" y="5673090"/>
            <a:ext cx="54292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7548870-5EE7-4D59-AEE1-AEA0AE33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475" y="6238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계단 W2,400 / 20 risers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5B6B35C-830C-4FAB-A7EE-764D1EB9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95675" y="6543675"/>
            <a:ext cx="7810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8009829-5E3C-46F8-805E-583FB341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1375" y="269176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천장 레일 H3,000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CD91D13-094A-4F20-8ECD-A7F52A2F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77575" y="2996565"/>
            <a:ext cx="106680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8C6750B-7329-476D-ADF3-3BF61FD1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714500"/>
            <a:ext cx="1095375" cy="823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99F95CA-655F-43E0-BF48-F2953AA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9900" y="1828800"/>
            <a:ext cx="981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BEANPOLE</a:t>
            </a:r>
          </a:p>
          <a:p xmlns:a="http://schemas.openxmlformats.org/drawingml/2006/main">
            <a:pPr algn="ctr">
              <a:defRPr sz="9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FLAGSHIP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E243CB2-89F9-42E2-8354-E04AF338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249555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3B00D41-A0D3-4A09-A3FE-D750BC12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25527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DRAWING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2121129-3C05-4974-AC68-9709C81F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30194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85E015F-DAA2-4720-A953-5F447FE3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3076575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LONG SECTION A-A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FB491C7-AE0F-4C2B-8709-B4D7A0DC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35433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81995D7-5CA4-44A5-8AB5-C0EB495E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36004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SCALE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D8B995A-1B2D-4C07-B9CD-3531B003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4067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5454DED-C487-4F81-89F8-54D4C4D7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4124325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 : 100 @ A3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46E8215-E0CF-4F77-888B-9F5C65A2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459105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2676BD3-FAD5-402E-8127-197E020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46482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UNIT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C35E846-8A16-4157-BC9F-A1D923D7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51149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3CD8866-819B-4FAD-A4AE-304729E8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5172075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mm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1B1119D-955B-4675-B52B-8841D7E8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56388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F4FAB1C-298A-4937-A2B5-4FDB9BBD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56959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DATE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5D8634C-83D3-4D46-8EB3-B179827D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61626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C3DD2C8-AB2F-415E-A7FB-4C59FAAB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6219825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2026.10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4E26293-0030-4D20-BB06-59D3BE47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668655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1D11B40-FFE3-48E7-9862-6159238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674370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STATUS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337AD02-E692-42EA-89B7-9BF936C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72104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52A4A78-27C0-446D-80BD-C93D13AC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7267575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MODELING GUIDE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FC0D5EE-99C0-4B1A-BE3F-07B696F0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77343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96EDEF5-F456-49F4-8D76-2D8AC435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77914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SHEET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5D6698A-C6A6-49DF-B5ED-1BAC5751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8258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38922F3-0AF5-4206-B57A-64D134F5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8315325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A-301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94A6B82-6391-4DB1-BCD8-74ED858B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950" y="9001125"/>
            <a:ext cx="942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NOTE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D5D32F7-3E78-4709-B4AD-0D51698E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8950" y="9239250"/>
            <a:ext cx="942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현장 실측 및</a:t>
            </a:r>
          </a:p>
          <a:p xmlns:a="http://schemas.openxmlformats.org/drawingml/2006/main">
            <a:pPr algn="ctr">
              <a:def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법규 검토 후 조정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137508D-B839-4C47-AC02-7BFE1F4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0734675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345980E-4DB7-423C-A724-9590D8F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848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단위 mm · 기준안 · 현장 실측 후 조정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E289C74-AE59-43B3-93FA-B13C1B3B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108489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0073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6E9BB3-D341-4A63-B37F-20915EEF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00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DB4DD-5CC1-4B58-9E0A-CCFE49A9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85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SketchUp 작성 체크리스트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339D0-D11F-462E-888B-538E525F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866775"/>
            <a:ext cx="1143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그룹과 태그를 초기에 나누면 수정과 장면 출력이 쉬워진다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5FDC5-6328-4E1B-BF90-B3236F04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238250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D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EA4A1-76BF-486D-B3D5-F82E94CD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000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BEANPOLE FLAGSHIP · MODELING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9E901-BA67-4C95-B48C-23B2935E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095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55E13-5BA2-44E9-BDDB-FDC661AC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095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E8D2E-C87A-4C03-A2FD-E65CE22F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7622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D91D7-B44B-44BB-86BE-4393135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9337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18,000 × 24,000 외곽선</a:t>
            </a:r>
          </a:p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3,000 그리드와 원점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D0215-5D8F-4625-B19F-768498A9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095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028EE-EB8A-4DFC-9C56-D17163E3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095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SHELL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207DF-F217-466E-9A90-59FFCDA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27622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A580B-768A-4E93-BB9E-C6BD0CCF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9337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외벽 200 · 내벽 100</a:t>
            </a:r>
          </a:p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기둥 500 × 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9A658-9375-4FFC-8FC1-12E53CE6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0" y="2095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D6281-EE83-41AB-85AA-CE6914A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2875" y="2095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LEVELS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FB658-FC90-4555-A0DE-699ADB8F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27622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DBD20-7779-4743-9597-BDE7C15F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2875" y="29337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1F 4,200 · SLAB 250</a:t>
            </a:r>
          </a:p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2F 4,000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534ED-3C2A-40DA-B5F8-5AFE03F3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334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C8698-2C2B-40ED-AB92-6B59EC93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533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B5744-6DFF-4269-AB66-5B2996FC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6000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783EE-3E72-4A89-B45C-78D4C0DF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61722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VOID 7,200 × 6,000</a:t>
            </a:r>
          </a:p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STAIR 2,400 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0771C-4B69-48C2-B7F1-4A11FF3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5334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7EBB7-2515-4F43-97E3-17B73B7E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533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FIXTURES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A848B-292A-4552-B9BF-0FD557DE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6000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07356-F18B-4B58-8355-F0562AFD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61722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벽장 · 행거 · 테이블</a:t>
            </a:r>
          </a:p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아카이브 · 피팅 · 라운지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ED4C3-E163-40F0-A0C4-8B1FF94F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0" y="5334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8D55CF-5D1D-4935-B530-6B3F6A33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2875" y="5334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3C"/>
                </a:solidFill>
                <a:latin typeface="Malgun Gothic"/>
                <a:ea typeface="Malgun Gothic"/>
                <a:cs typeface="Malgun Gothic"/>
              </a:rPr>
              <a:t>SCENES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CA222-72F0-449B-A206-5DBE9476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6000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EAC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16E95-1C1A-4278-A47F-6896ABFC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2875" y="61722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1F PLAN · 2F PLAN</a:t>
            </a:r>
          </a:p>
          <a:p xmlns:a="http://schemas.openxmlformats.org/drawingml/2006/main">
            <a:pPr algn="l">
              <a:def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4 ELEVATIONS · PERSPECTIVE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E8D13-2B01-48D2-93CC-BCFEA5BC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8858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추천 태그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87AA91-E622-4384-B66A-909A81F1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8858250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A-WALL · A-COLUMN · A-GLASS · A-STAIR · A-VOID · F-FIXTURE · F-DISPLAY · V-SIGNAGE · L-LIGHT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F8333-F86C-4595-B93D-4B27A157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9525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85F3F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C35131-FF18-4E5C-881C-D2BDFD1B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952500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61F"/>
                </a:solidFill>
                <a:latin typeface="Malgun Gothic"/>
                <a:ea typeface="Malgun Gothic"/>
                <a:cs typeface="Malgun Gothic"/>
              </a:rPr>
              <a:t>본 도면은 컨셉 모델링용 기준안이다. 피난, 구조, 장애인 편의, 소방 기준은 실제 대상지와 설계 기준에 맞춰 별도 검토한다.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94D9E5-89E2-4648-8919-A62AEE4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0734675"/>
            <a:ext cx="1497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EAC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FB4032-6EAC-4709-8219-8DEA6FB2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0848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단위 mm · 기준안 · 현장 실측 후 조정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EF0CF2-AA66-4735-BD95-F312C3BF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108489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F746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5667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2026-10-07T17:02:23.9560000Z</dcterms:created>
  <dcterms:modified xsi:type="dcterms:W3CDTF">2026-10-07T17:02:23.9560000Z</dcterms:modified>
</coreProperties>
</file>